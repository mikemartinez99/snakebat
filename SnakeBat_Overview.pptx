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4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976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SnakeBat is the workflow Megan and I built for the lab's acoustic energy analysis. Today: what it does, why it is built the way it is, and how to run it. No coding background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point is not that any one step is hard — it is that there are thousands of them and they all have to be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after this slide is detail. If you remember one thing, remember this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Field-biologist framing: Snakemake is a manager, not a method. The science is in the R code; Snakemake makes sure the R code runs on everything, once, in the right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payoff slide. When we presented the plan, rules 2-4 were dashed boxes. They are now built and running. That is the entire case for the pipeline: the second, third and fourth steps cost an afternoon because the frame already existed.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1 is the one people feel. Long jobs on real field data will get interrupted, and Snakemake makes that a non-event.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Step 2 is highlighted because it has the biggest scientific consequence — the filter band decides what counts as 'bat'. Step 5 matters if you mix recorder settings across a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get hung up on decibels being negative — it just means 'quieter than the loudest thing the recorder could have captured'. The adjusted column exists so plots can start at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someone only remembers one slide about operating the thing, this is it: config.yaml for settings, folders.csv for what to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live in config.yaml. Save the file after editing — the most common 'it ran wrong' turns out to be an unsaved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Nearly every failed run traces back to this file. The classic one is an unmounted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this live if there is a machine handy. The big change from last time: no more conda activate, and no more hunting through logs/ — the run log collects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people at all_samples_nightly_totals.csv first - it is the small one that opens in Excel. The run log is the file to send us when something goes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Reassure people that a locked directory is normal and harmless, not a sign they broke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evidence, not the promise: the growth argument has now been tested once. Tell us what analysis you want next and it becomes rule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0120" y="1188720"/>
            <a:ext cx="50292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tx1"/>
              </a:solidFill>
              <a:latin typeface="K2D" pitchFamily="2" charset="-34"/>
              <a:cs typeface="K2D" pitchFamily="2" charset="-34"/>
            </a:endParaRP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18488"/>
            <a:ext cx="4480560" cy="1289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37033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 i="0">
                <a:latin typeface="K2D" pitchFamily="2" charset="-34"/>
                <a:cs typeface="K2D" pitchFamily="2" charset="-34"/>
              </a:rPr>
              <a:t>A reproducible pipeline for bat acoustic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251960"/>
            <a:ext cx="9692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0" i="0">
                <a:latin typeface="K2D" pitchFamily="2" charset="-34"/>
                <a:cs typeface="K2D" pitchFamily="2" charset="-34"/>
              </a:rPr>
              <a:t>From nights of AudioMoth recordings to nightly totals, summary tables and figures —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5074920"/>
            <a:ext cx="54864" cy="960120"/>
          </a:xfrm>
          <a:prstGeom prst="rect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tx1"/>
              </a:solidFill>
              <a:latin typeface="K2D" pitchFamily="2" charset="-34"/>
              <a:cs typeface="K2D" pitchFamily="2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25296" y="5084064"/>
            <a:ext cx="7315200" cy="819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buNone/>
            </a:pPr>
            <a:r>
              <a:rPr sz="1500" b="1" i="0">
                <a:latin typeface="K2D" pitchFamily="2" charset="-34"/>
                <a:cs typeface="K2D" pitchFamily="2" charset="-34"/>
              </a:rPr>
              <a:t>Mike Martinez  ·  Megan Graham</a:t>
            </a:r>
          </a:p>
          <a:p>
            <a:pPr algn="l">
              <a:lnSpc>
                <a:spcPts val="2200"/>
              </a:lnSpc>
              <a:buNone/>
            </a:pPr>
            <a:r>
              <a:rPr sz="1300" b="0" i="0">
                <a:latin typeface="K2D" pitchFamily="2" charset="-34"/>
                <a:cs typeface="K2D" pitchFamily="2" charset="-34"/>
              </a:rPr>
              <a:t>Kloepper Lab  ·  University of New Hampshire</a:t>
            </a:r>
          </a:p>
          <a:p>
            <a:pPr algn="l">
              <a:lnSpc>
                <a:spcPts val="2200"/>
              </a:lnSpc>
              <a:buNone/>
            </a:pPr>
            <a:r>
              <a:rPr sz="1300" b="0" i="0">
                <a:latin typeface="K2D" pitchFamily="2" charset="-34"/>
                <a:cs typeface="K2D" pitchFamily="2" charset="-34"/>
              </a:rPr>
              <a:t>Lab meeting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029475"/>
                </a:solidFill>
                <a:latin typeface="Calibri"/>
                <a:cs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16233A"/>
                </a:solidFill>
                <a:latin typeface="Cambria"/>
                <a:cs typeface="Cambria"/>
              </a:rPr>
              <a:t>More audio than anyone can click 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3502152" cy="1572768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737360"/>
            <a:ext cx="291693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029475"/>
                </a:solidFill>
                <a:latin typeface="Cambria"/>
                <a:cs typeface="Cambria"/>
              </a:rPr>
              <a:t>10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32304"/>
            <a:ext cx="291693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length of a single</a:t>
            </a:r>
          </a:p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AudioMoth recording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572768"/>
            <a:ext cx="3502152" cy="1572768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18888" y="1737360"/>
            <a:ext cx="291693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029475"/>
                </a:solidFill>
                <a:latin typeface="Cambria"/>
                <a:cs typeface="Cambria"/>
              </a:rPr>
              <a:t>~144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8888" y="2432304"/>
            <a:ext cx="291693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files per detector,</a:t>
            </a:r>
          </a:p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per 24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572768"/>
            <a:ext cx="3502152" cy="1572768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05088" y="1737360"/>
            <a:ext cx="291693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029475"/>
                </a:solidFill>
                <a:latin typeface="Cambria"/>
                <a:cs typeface="Cambria"/>
              </a:rPr>
              <a:t>1,000+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432304"/>
            <a:ext cx="291693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files after one week</a:t>
            </a:r>
          </a:p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at a single site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56432"/>
            <a:ext cx="10911535" cy="237744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7" y="370332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16233A"/>
                </a:solidFill>
                <a:latin typeface="Calibri"/>
                <a:cs typeface="Calibri"/>
              </a:rPr>
              <a:t>Doing this by hand means: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" y="411480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465369"/>
                </a:solidFill>
                <a:latin typeface="Calibri"/>
                <a:cs typeface="Calibri"/>
              </a:rPr>
              <a:t>•   Opening every file and repeating the same steps</a:t>
            </a:r>
          </a:p>
          <a:p>
            <a:pPr algn="l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465369"/>
                </a:solidFill>
                <a:latin typeface="Calibri"/>
                <a:cs typeface="Calibri"/>
              </a:rPr>
              <a:t>•   Losing your place if the computer restarts</a:t>
            </a:r>
          </a:p>
          <a:p>
            <a:pPr algn="l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465369"/>
                </a:solidFill>
                <a:latin typeface="Calibri"/>
                <a:cs typeface="Calibri"/>
              </a:rPr>
              <a:t>•   Slightly different settings between sessions</a:t>
            </a:r>
          </a:p>
          <a:p>
            <a:pPr algn="l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465369"/>
                </a:solidFill>
                <a:latin typeface="Calibri"/>
                <a:cs typeface="Calibri"/>
              </a:rPr>
              <a:t>•   No written record of what was actually 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657600"/>
            <a:ext cx="4663440" cy="1965960"/>
          </a:xfrm>
          <a:prstGeom prst="roundRect">
            <a:avLst>
              <a:gd name="adj" fmla="val 4186"/>
            </a:avLst>
          </a:prstGeom>
          <a:solidFill>
            <a:srgbClr val="E2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3794760"/>
            <a:ext cx="4023360" cy="169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00"/>
              </a:lnSpc>
              <a:buNone/>
            </a:pPr>
            <a:r>
              <a:rPr sz="1700" b="1" i="1">
                <a:solidFill>
                  <a:srgbClr val="0A5C48"/>
                </a:solidFill>
                <a:latin typeface="Cambria"/>
                <a:cs typeface="Cambria"/>
              </a:rPr>
              <a:t>SnakeBat runs the same steps, the same way, on every folder you point it at — and tells you exactly what it did.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029475"/>
                </a:solidFill>
                <a:latin typeface="Calibri"/>
                <a:cs typeface="Calibri"/>
              </a:rPr>
              <a:t>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16233A"/>
                </a:solidFill>
                <a:latin typeface="Cambria"/>
                <a:cs typeface="Cambria"/>
              </a:rPr>
              <a:t>SnakeBat measures how much bat-band sound energy was in the air, second by second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587752" cy="2286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2286000"/>
            <a:ext cx="475488" cy="475488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07792"/>
            <a:ext cx="2039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Find the recordings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0391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Reads every .WAV file in the folders you list, including sub-folders.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2907792"/>
            <a:ext cx="2468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 i="0">
                <a:solidFill>
                  <a:srgbClr val="E8A33D"/>
                </a:solidFill>
                <a:latin typeface="Calibri"/>
                <a:cs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587752" cy="2286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49039" y="2286000"/>
            <a:ext cx="475488" cy="475488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907792"/>
            <a:ext cx="2039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Filter to bat frequencies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474720"/>
            <a:ext cx="20391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Keeps only 30–70 kHz. Wind, insects and traffic are removed.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2907792"/>
            <a:ext cx="2468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 i="0">
                <a:solidFill>
                  <a:srgbClr val="E8A33D"/>
                </a:solidFill>
                <a:latin typeface="Calibri"/>
                <a:cs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011680"/>
            <a:ext cx="2587752" cy="2286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83680" y="2286000"/>
            <a:ext cx="475488" cy="475488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07792"/>
            <a:ext cx="2039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Measure loudness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74720"/>
            <a:ext cx="20391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Chops audio into 1-second slices and scores the energy in each.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2907792"/>
            <a:ext cx="2468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 i="0">
                <a:solidFill>
                  <a:srgbClr val="E8A33D"/>
                </a:solidFill>
                <a:latin typeface="Calibri"/>
                <a:cs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011680"/>
            <a:ext cx="2587752" cy="2286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18320" y="2286000"/>
            <a:ext cx="475488" cy="475488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907792"/>
            <a:ext cx="2039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Summarise and plot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474720"/>
            <a:ext cx="20391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Nightly totals per site, one table across all sites, and a figure each.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10911535" cy="1143000"/>
          </a:xfrm>
          <a:prstGeom prst="roundRect">
            <a:avLst>
              <a:gd name="adj" fmla="val 7199"/>
            </a:avLst>
          </a:prstGeom>
          <a:solidFill>
            <a:srgbClr val="12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5157549"/>
            <a:ext cx="9997135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1" i="0" dirty="0">
                <a:solidFill>
                  <a:srgbClr val="E8A33D"/>
                </a:solidFill>
                <a:latin typeface="Calibri"/>
                <a:cs typeface="Calibri"/>
              </a:rPr>
              <a:t>You provide:  </a:t>
            </a:r>
            <a:r>
              <a:rPr sz="1600" b="0" i="0" dirty="0">
                <a:solidFill>
                  <a:srgbClr val="FFFFFF"/>
                </a:solidFill>
                <a:latin typeface="Calibri"/>
                <a:cs typeface="Calibri"/>
              </a:rPr>
              <a:t>a list of folders and a handful of settings.        </a:t>
            </a:r>
            <a:r>
              <a:rPr sz="1600" b="1" i="0" dirty="0">
                <a:solidFill>
                  <a:srgbClr val="E8A33D"/>
                </a:solidFill>
                <a:latin typeface="Calibri"/>
                <a:cs typeface="Calibri"/>
              </a:rPr>
              <a:t>You get back:  </a:t>
            </a:r>
            <a:r>
              <a:rPr sz="1600" b="0" i="0" dirty="0">
                <a:solidFill>
                  <a:srgbClr val="FFFFFF"/>
                </a:solidFill>
                <a:latin typeface="Calibri"/>
                <a:cs typeface="Calibri"/>
              </a:rPr>
              <a:t>spreadsheets you can open in Excel or R</a:t>
            </a: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, plots</a:t>
            </a:r>
            <a:r>
              <a:rPr sz="1600" b="0" i="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029475"/>
                </a:solidFill>
                <a:latin typeface="Calibri"/>
                <a:cs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16233A"/>
                </a:solidFill>
                <a:latin typeface="Cambria"/>
                <a:cs typeface="Cambria"/>
              </a:rPr>
              <a:t>So what is Snakemake?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5212080" cy="4343400"/>
          </a:xfrm>
          <a:prstGeom prst="roundRect">
            <a:avLst>
              <a:gd name="adj" fmla="val 2105"/>
            </a:avLst>
          </a:prstGeom>
          <a:solidFill>
            <a:srgbClr val="12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4297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00"/>
              </a:lnSpc>
              <a:buNone/>
            </a:pPr>
            <a:r>
              <a:rPr sz="2700" b="1" i="0">
                <a:solidFill>
                  <a:srgbClr val="FFFFFF"/>
                </a:solidFill>
                <a:latin typeface="Cambria"/>
                <a:cs typeface="Cambria"/>
              </a:rPr>
              <a:t>Think of it as a</a:t>
            </a:r>
          </a:p>
          <a:p>
            <a:pPr algn="l">
              <a:lnSpc>
                <a:spcPts val="3400"/>
              </a:lnSpc>
              <a:buNone/>
            </a:pPr>
            <a:r>
              <a:rPr sz="2700" b="1" i="0">
                <a:solidFill>
                  <a:srgbClr val="FFFFFF"/>
                </a:solidFill>
                <a:latin typeface="Cambria"/>
                <a:cs typeface="Cambria"/>
              </a:rPr>
              <a:t>recipe card for</a:t>
            </a:r>
          </a:p>
          <a:p>
            <a:pPr algn="l">
              <a:lnSpc>
                <a:spcPts val="3400"/>
              </a:lnSpc>
              <a:buNone/>
            </a:pPr>
            <a:r>
              <a:rPr sz="2700" b="1" i="0">
                <a:solidFill>
                  <a:srgbClr val="FFFFFF"/>
                </a:solidFill>
                <a:latin typeface="Cambria"/>
                <a:cs typeface="Cambria"/>
              </a:rPr>
              <a:t>the computer.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42976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  <a:buNone/>
            </a:pPr>
            <a:r>
              <a:rPr sz="1400" b="0" i="0">
                <a:solidFill>
                  <a:srgbClr val="C3D0DC"/>
                </a:solidFill>
                <a:latin typeface="Calibri"/>
                <a:cs typeface="Calibri"/>
              </a:rPr>
              <a:t>You write down the ingredients (your recordings), the steps, and what the finished dish should look like.</a:t>
            </a:r>
          </a:p>
          <a:p>
            <a:pPr algn="l">
              <a:lnSpc>
                <a:spcPts val="2000"/>
              </a:lnSpc>
              <a:buNone/>
            </a:pPr>
            <a:r>
              <a:rPr sz="1400" b="0" i="0">
                <a:solidFill>
                  <a:srgbClr val="C3D0DC"/>
                </a:solidFill>
                <a:latin typeface="Calibri"/>
                <a:cs typeface="Calibri"/>
              </a:rPr>
              <a:t> </a:t>
            </a:r>
          </a:p>
          <a:p>
            <a:pPr algn="l">
              <a:lnSpc>
                <a:spcPts val="2000"/>
              </a:lnSpc>
              <a:buNone/>
            </a:pPr>
            <a:r>
              <a:rPr sz="1400" b="0" i="0">
                <a:solidFill>
                  <a:srgbClr val="C3D0DC"/>
                </a:solidFill>
                <a:latin typeface="Calibri"/>
                <a:cs typeface="Calibri"/>
              </a:rPr>
              <a:t>Snakemake reads the recipe, works out what still needs doing, and does it. If a step is already finished, it skips it.</a:t>
            </a:r>
          </a:p>
          <a:p>
            <a:pPr algn="l">
              <a:lnSpc>
                <a:spcPts val="2000"/>
              </a:lnSpc>
              <a:buNone/>
            </a:pPr>
            <a:r>
              <a:rPr sz="1400" b="0" i="0">
                <a:solidFill>
                  <a:srgbClr val="C3D0DC"/>
                </a:solidFill>
                <a:latin typeface="Calibri"/>
                <a:cs typeface="Calibri"/>
              </a:rPr>
              <a:t> </a:t>
            </a:r>
          </a:p>
          <a:p>
            <a:pPr algn="l">
              <a:lnSpc>
                <a:spcPts val="2000"/>
              </a:lnSpc>
              <a:buNone/>
            </a:pPr>
            <a:r>
              <a:rPr sz="1400" b="0" i="0">
                <a:solidFill>
                  <a:srgbClr val="C3D0DC"/>
                </a:solidFill>
                <a:latin typeface="Calibri"/>
                <a:cs typeface="Calibri"/>
              </a:rPr>
              <a:t>You never have to remember which files you already processed.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72768"/>
            <a:ext cx="5287975" cy="128016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56248" y="1956816"/>
            <a:ext cx="502920" cy="502920"/>
          </a:xfrm>
          <a:prstGeom prst="ellipse">
            <a:avLst/>
          </a:prstGeom>
          <a:solidFill>
            <a:srgbClr val="E2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725412" y="2125980"/>
            <a:ext cx="164592" cy="164592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1810512"/>
            <a:ext cx="40078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It is not a new language to 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57984"/>
            <a:ext cx="400781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Snakemake runs the R code we already wrote. It only decides when, and how often, to run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035808"/>
            <a:ext cx="5287975" cy="128016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56248" y="3419856"/>
            <a:ext cx="502920" cy="502920"/>
          </a:xfrm>
          <a:prstGeom prst="ellipse">
            <a:avLst/>
          </a:prstGeom>
          <a:solidFill>
            <a:srgbClr val="E2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25412" y="3589020"/>
            <a:ext cx="164592" cy="164592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0" y="3273552"/>
            <a:ext cx="40078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It is a standard, not a homegrown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621024"/>
            <a:ext cx="400781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Widely used across biology labs — published, documented, and supported. Anyone can pick it 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498848"/>
            <a:ext cx="5287975" cy="128016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56248" y="4882896"/>
            <a:ext cx="502920" cy="502920"/>
          </a:xfrm>
          <a:prstGeom prst="ellipse">
            <a:avLst/>
          </a:prstGeom>
          <a:solidFill>
            <a:srgbClr val="E2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725412" y="5052059"/>
            <a:ext cx="164592" cy="164592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4736592"/>
            <a:ext cx="40078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It keeps a 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5084064"/>
            <a:ext cx="400781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Every run writes a log. Six months from now you can see exactly what settings produced a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029475"/>
                </a:solidFill>
                <a:latin typeface="Calibri"/>
                <a:cs typeface="Calibri"/>
              </a:rPr>
              <a:t>THE DESIGN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16233A"/>
                </a:solidFill>
                <a:latin typeface="Cambria"/>
                <a:cs typeface="Cambria"/>
              </a:rPr>
              <a:t>“Why build a pipeline for a single step?”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89888"/>
            <a:ext cx="1091153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0" i="1">
                <a:solidFill>
                  <a:srgbClr val="465369"/>
                </a:solidFill>
                <a:latin typeface="Calibri"/>
                <a:cs typeface="Calibri"/>
              </a:rPr>
              <a:t>Because the frame is the part that is hard to add later. The steps themselves are easy.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en-US" sz="1200" b="1" i="0" spc="200" dirty="0" err="1">
                <a:solidFill>
                  <a:srgbClr val="63707F"/>
                </a:solidFill>
                <a:latin typeface="Calibri"/>
                <a:cs typeface="Calibri"/>
              </a:rPr>
              <a:t>Snakemake</a:t>
            </a:r>
            <a:r>
              <a:rPr lang="en-US" sz="1200" b="1" i="0" spc="200" dirty="0">
                <a:solidFill>
                  <a:srgbClr val="63707F"/>
                </a:solidFill>
                <a:latin typeface="Calibri"/>
                <a:cs typeface="Calibri"/>
              </a:rPr>
              <a:t> v1.1</a:t>
            </a:r>
            <a:endParaRPr sz="1200" b="1" i="0" spc="200" dirty="0">
              <a:solidFill>
                <a:srgbClr val="63707F"/>
              </a:solidFill>
              <a:latin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51560" y="2606040"/>
            <a:ext cx="4389120" cy="749808"/>
          </a:xfrm>
          <a:prstGeom prst="roundRect">
            <a:avLst>
              <a:gd name="adj" fmla="val 8536"/>
            </a:avLst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Rule 1  ·  Calculate RMS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11880"/>
            <a:ext cx="4389120" cy="1203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  <a:buNone/>
            </a:pPr>
            <a:r>
              <a:rPr sz="1350" b="0" i="0" dirty="0">
                <a:solidFill>
                  <a:srgbClr val="465369"/>
                </a:solidFill>
                <a:latin typeface="Calibri"/>
                <a:cs typeface="Calibri"/>
              </a:rPr>
              <a:t>One rule. It worked, it was documented, and it was finished.</a:t>
            </a:r>
          </a:p>
          <a:p>
            <a:pPr algn="l">
              <a:lnSpc>
                <a:spcPts val="1900"/>
              </a:lnSpc>
              <a:buNone/>
            </a:pPr>
            <a:r>
              <a:rPr sz="1350" b="0" i="0" dirty="0">
                <a:solidFill>
                  <a:srgbClr val="465369"/>
                </a:solidFill>
                <a:latin typeface="Calibri"/>
                <a:cs typeface="Calibri"/>
              </a:rPr>
              <a:t> </a:t>
            </a:r>
          </a:p>
          <a:p>
            <a:pPr algn="l">
              <a:lnSpc>
                <a:spcPts val="1900"/>
              </a:lnSpc>
              <a:buNone/>
            </a:pPr>
            <a:r>
              <a:rPr sz="1350" b="0" i="0" dirty="0">
                <a:solidFill>
                  <a:srgbClr val="465369"/>
                </a:solidFill>
                <a:latin typeface="Calibri"/>
                <a:cs typeface="Calibri"/>
              </a:rPr>
              <a:t>The scaffolding around it</a:t>
            </a:r>
            <a:r>
              <a:rPr lang="en-US" sz="1350" b="0" i="0" dirty="0">
                <a:solidFill>
                  <a:srgbClr val="465369"/>
                </a:solidFill>
                <a:latin typeface="Calibri"/>
                <a:cs typeface="Calibri"/>
              </a:rPr>
              <a:t> (</a:t>
            </a:r>
            <a:r>
              <a:rPr sz="1350" b="0" i="0" dirty="0">
                <a:solidFill>
                  <a:srgbClr val="465369"/>
                </a:solidFill>
                <a:latin typeface="Calibri"/>
                <a:cs typeface="Calibri"/>
              </a:rPr>
              <a:t>config file, sample sheet, logging, software environment</a:t>
            </a:r>
            <a:r>
              <a:rPr lang="en-US" sz="1350" b="0" i="0" dirty="0">
                <a:solidFill>
                  <a:srgbClr val="465369"/>
                </a:solidFill>
                <a:latin typeface="Calibri"/>
                <a:cs typeface="Calibri"/>
              </a:rPr>
              <a:t>) </a:t>
            </a:r>
            <a:r>
              <a:rPr sz="1350" b="0" i="0" dirty="0">
                <a:solidFill>
                  <a:srgbClr val="465369"/>
                </a:solidFill>
                <a:latin typeface="Calibri"/>
                <a:cs typeface="Calibri"/>
              </a:rPr>
              <a:t>was already built, and none of it had to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5120640"/>
            <a:ext cx="4389120" cy="777240"/>
          </a:xfrm>
          <a:prstGeom prst="roundRect">
            <a:avLst>
              <a:gd name="adj" fmla="val 8235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512064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sz="1250" b="0" i="1">
                <a:solidFill>
                  <a:srgbClr val="0A5C48"/>
                </a:solidFill>
                <a:latin typeface="Calibri"/>
                <a:cs typeface="Calibri"/>
              </a:rPr>
              <a:t>A one-off script would have been quicker that day, and more expensive every day after.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287975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212848"/>
            <a:ext cx="446501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00" dirty="0">
                <a:solidFill>
                  <a:srgbClr val="63707F"/>
                </a:solidFill>
                <a:latin typeface="Calibri"/>
                <a:cs typeface="Calibri"/>
              </a:rPr>
              <a:t>TODAY</a:t>
            </a:r>
            <a:r>
              <a:rPr lang="en-US" sz="1200" b="1" i="0" spc="200" dirty="0">
                <a:solidFill>
                  <a:srgbClr val="63707F"/>
                </a:solidFill>
                <a:latin typeface="Calibri"/>
                <a:cs typeface="Calibri"/>
              </a:rPr>
              <a:t> (</a:t>
            </a:r>
            <a:r>
              <a:rPr lang="en-US" sz="1200" b="1" i="0" spc="200" dirty="0" err="1">
                <a:solidFill>
                  <a:srgbClr val="63707F"/>
                </a:solidFill>
                <a:latin typeface="Calibri"/>
                <a:cs typeface="Calibri"/>
              </a:rPr>
              <a:t>Snakemake</a:t>
            </a:r>
            <a:r>
              <a:rPr lang="en-US" sz="1200" b="1" i="0" spc="200" dirty="0">
                <a:solidFill>
                  <a:srgbClr val="63707F"/>
                </a:solidFill>
                <a:latin typeface="Calibri"/>
                <a:cs typeface="Calibri"/>
              </a:rPr>
              <a:t> v2.0)</a:t>
            </a:r>
            <a:endParaRPr sz="1200" b="1" i="0" spc="200" dirty="0">
              <a:solidFill>
                <a:srgbClr val="63707F"/>
              </a:solidFill>
              <a:latin typeface="Calibri"/>
              <a:cs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75120" y="2560320"/>
            <a:ext cx="4465015" cy="530352"/>
          </a:xfrm>
          <a:prstGeom prst="roundRect">
            <a:avLst>
              <a:gd name="adj" fmla="val 12068"/>
            </a:avLst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350" b="1" i="0">
                <a:solidFill>
                  <a:srgbClr val="FFFFFF"/>
                </a:solidFill>
                <a:latin typeface="Calibri"/>
                <a:cs typeface="Calibri"/>
              </a:rPr>
              <a:t>Rule 1  ·  Calculate RMS power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200400"/>
            <a:ext cx="4465015" cy="530352"/>
          </a:xfrm>
          <a:prstGeom prst="roundRect">
            <a:avLst>
              <a:gd name="adj" fmla="val 12068"/>
            </a:avLst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350" b="1" i="0">
                <a:solidFill>
                  <a:srgbClr val="FFFFFF"/>
                </a:solidFill>
                <a:latin typeface="Calibri"/>
                <a:cs typeface="Calibri"/>
              </a:rPr>
              <a:t>Rule 2  ·  Combine per-site totals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840479"/>
            <a:ext cx="4465015" cy="530352"/>
          </a:xfrm>
          <a:prstGeom prst="roundRect">
            <a:avLst>
              <a:gd name="adj" fmla="val 12068"/>
            </a:avLst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350" b="1" i="0">
                <a:solidFill>
                  <a:srgbClr val="FFFFFF"/>
                </a:solidFill>
                <a:latin typeface="Calibri"/>
                <a:cs typeface="Calibri"/>
              </a:rPr>
              <a:t>Rule 3  ·  Cross-site summary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480559"/>
            <a:ext cx="4465015" cy="530352"/>
          </a:xfrm>
          <a:prstGeom prst="roundRect">
            <a:avLst>
              <a:gd name="adj" fmla="val 12068"/>
            </a:avLst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350" b="1" i="0">
                <a:solidFill>
                  <a:srgbClr val="FFFFFF"/>
                </a:solidFill>
                <a:latin typeface="Calibri"/>
                <a:cs typeface="Calibri"/>
              </a:rPr>
              <a:t>Rule 4  ·  Nightly activity plots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5120640"/>
            <a:ext cx="4465015" cy="530352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350" b="0" i="0">
                <a:solidFill>
                  <a:srgbClr val="9A6A1E"/>
                </a:solidFill>
                <a:latin typeface="Calibri"/>
                <a:cs typeface="Calibri"/>
              </a:rPr>
              <a:t>Rule 5  ·  Call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724144"/>
            <a:ext cx="4465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250" b="0" i="1">
                <a:solidFill>
                  <a:srgbClr val="0A5C48"/>
                </a:solidFill>
                <a:latin typeface="Calibri"/>
                <a:cs typeface="Calibri"/>
              </a:rPr>
              <a:t>Three rules added in one afternoon. Nothing was rebuilt.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E8A33D"/>
                </a:solidFill>
                <a:latin typeface="Calibri"/>
                <a:cs typeface="Calibri"/>
              </a:rPr>
              <a:t>WHY IT MATTERS DAY TO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FFFFFF"/>
                </a:solidFill>
                <a:latin typeface="Cambria"/>
                <a:cs typeface="Cambria"/>
              </a:rPr>
              <a:t>Three things Snakemake gives us for free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02152" cy="3566160"/>
          </a:xfrm>
          <a:prstGeom prst="roundRect">
            <a:avLst>
              <a:gd name="adj" fmla="val 2610"/>
            </a:avLst>
          </a:prstGeom>
          <a:solidFill>
            <a:srgbClr val="1D3454"/>
          </a:solidFill>
          <a:ln w="9525">
            <a:solidFill>
              <a:srgbClr val="2C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277063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800" b="1" i="0">
                <a:solidFill>
                  <a:srgbClr val="E8A33D"/>
                </a:solidFill>
                <a:latin typeface="Cambria"/>
                <a:cs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277063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It picks up where it left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64992"/>
            <a:ext cx="277063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sz="1300" b="0" i="0">
                <a:solidFill>
                  <a:srgbClr val="AFC0CE"/>
                </a:solidFill>
                <a:latin typeface="Calibri"/>
                <a:cs typeface="Calibri"/>
              </a:rPr>
              <a:t>Power cut, laptop closed, job killed at 4 a.m.? Just restart it. Files that finished are skipped; only what is missing gets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74519"/>
            <a:ext cx="3502152" cy="3566160"/>
          </a:xfrm>
          <a:prstGeom prst="roundRect">
            <a:avLst>
              <a:gd name="adj" fmla="val 2610"/>
            </a:avLst>
          </a:prstGeom>
          <a:solidFill>
            <a:srgbClr val="1D3454"/>
          </a:solidFill>
          <a:ln w="9525">
            <a:solidFill>
              <a:srgbClr val="2C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2040" y="2121408"/>
            <a:ext cx="277063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800" b="1" i="0">
                <a:solidFill>
                  <a:srgbClr val="E8A33D"/>
                </a:solidFill>
                <a:latin typeface="Cambria"/>
                <a:cs typeface="Cambr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880360"/>
            <a:ext cx="277063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It uses more than one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364992"/>
            <a:ext cx="277063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sz="1300" b="0" i="0">
                <a:solidFill>
                  <a:srgbClr val="AFC0CE"/>
                </a:solidFill>
                <a:latin typeface="Calibri"/>
                <a:cs typeface="Calibri"/>
              </a:rPr>
              <a:t>Two sites process at the same time instead of one after the other. That is a single option: --cores 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74519"/>
            <a:ext cx="3502152" cy="3566160"/>
          </a:xfrm>
          <a:prstGeom prst="roundRect">
            <a:avLst>
              <a:gd name="adj" fmla="val 2610"/>
            </a:avLst>
          </a:prstGeom>
          <a:solidFill>
            <a:srgbClr val="1D3454"/>
          </a:solidFill>
          <a:ln w="9525">
            <a:solidFill>
              <a:srgbClr val="2C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2121408"/>
            <a:ext cx="277063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800" b="1" i="0">
                <a:solidFill>
                  <a:srgbClr val="E8A33D"/>
                </a:solidFill>
                <a:latin typeface="Cambria"/>
                <a:cs typeface="Cambr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880360"/>
            <a:ext cx="277063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It gives the same answer twice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364992"/>
            <a:ext cx="277063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sz="1300" b="0" i="0">
                <a:solidFill>
                  <a:srgbClr val="AFC0CE"/>
                </a:solidFill>
                <a:latin typeface="Calibri"/>
                <a:cs typeface="Calibri"/>
              </a:rPr>
              <a:t>Every package version is pinned in a lock file, so your laptop and a colleague's produce identical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 i="1">
                <a:solidFill>
                  <a:srgbClr val="8593A6"/>
                </a:solidFill>
                <a:latin typeface="Calibri"/>
                <a:cs typeface="Calibri"/>
              </a:rPr>
              <a:t>None of these are things we had to write. They come with the framework.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029475"/>
                </a:solidFill>
                <a:latin typeface="Calibri"/>
                <a:cs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16233A"/>
                </a:solidFill>
                <a:latin typeface="Cambria"/>
                <a:cs typeface="Cambria"/>
              </a:rPr>
              <a:t>What actually happens to one recording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5263743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1975104"/>
            <a:ext cx="502920" cy="502920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912" y="1810512"/>
            <a:ext cx="40293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Open the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2157984"/>
            <a:ext cx="402930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A 10-minute .WAV recorded at 192,000 samples per second.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7871" y="1572768"/>
            <a:ext cx="5263743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62191" y="1975104"/>
            <a:ext cx="502920" cy="502920"/>
          </a:xfrm>
          <a:prstGeom prst="ellipse">
            <a:avLst/>
          </a:prstGeom>
          <a:solidFill>
            <a:srgbClr val="00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9703" y="1810512"/>
            <a:ext cx="40293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Band-pass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9703" y="2157984"/>
            <a:ext cx="402930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Keep only 30–70 kHz — the echolocation range. Everything above and below is discarded.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90672"/>
            <a:ext cx="5263743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3493008"/>
            <a:ext cx="502920" cy="502920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28415"/>
            <a:ext cx="40293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Cut into 1-second slices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675887"/>
            <a:ext cx="402930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600 slices in a 10-minute file. Slice length is a setting you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7871" y="3090672"/>
            <a:ext cx="5263743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62191" y="3493008"/>
            <a:ext cx="502920" cy="502920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9703" y="3328415"/>
            <a:ext cx="40293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Score each slice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9703" y="3675887"/>
            <a:ext cx="402930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Compute RMS — one loudness value for the slice — and convert it to decibels.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08576"/>
            <a:ext cx="5263743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5010912"/>
            <a:ext cx="502920" cy="502920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846320"/>
            <a:ext cx="40293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Apply the gain offset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5193792"/>
            <a:ext cx="402930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Add a fixed correction (6.3 dB) so recorders set to different gains stay comparable.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7871" y="4608576"/>
            <a:ext cx="5263743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62191" y="5010912"/>
            <a:ext cx="502920" cy="502920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9703" y="4846320"/>
            <a:ext cx="40293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Sort by date, then 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9703" y="5193792"/>
            <a:ext cx="402930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Files are filed into date folders, then summed into one nightly total per site.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E8A33D"/>
                </a:solidFill>
                <a:latin typeface="Calibri"/>
                <a:cs typeface="Calibri"/>
              </a:rPr>
              <a:t>READING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FFFFFF"/>
                </a:solidFill>
                <a:latin typeface="Cambria"/>
                <a:cs typeface="Cambria"/>
              </a:rPr>
              <a:t>What is RMS power, in plain terms?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27632"/>
            <a:ext cx="5852160" cy="1691640"/>
          </a:xfrm>
          <a:prstGeom prst="roundRect">
            <a:avLst>
              <a:gd name="adj" fmla="val 5405"/>
            </a:avLst>
          </a:prstGeom>
          <a:solidFill>
            <a:srgbClr val="1D3454"/>
          </a:solidFill>
          <a:ln w="9525">
            <a:solidFill>
              <a:srgbClr val="2C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627632"/>
            <a:ext cx="5029200" cy="169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00"/>
              </a:lnSpc>
              <a:buNone/>
            </a:pPr>
            <a:r>
              <a:rPr sz="2300" b="1" i="0">
                <a:solidFill>
                  <a:srgbClr val="FFFFFF"/>
                </a:solidFill>
                <a:latin typeface="Cambria"/>
                <a:cs typeface="Cambria"/>
              </a:rPr>
              <a:t>One number that answers:</a:t>
            </a:r>
          </a:p>
          <a:p>
            <a:pPr algn="l">
              <a:lnSpc>
                <a:spcPts val="3200"/>
              </a:lnSpc>
              <a:buNone/>
            </a:pPr>
            <a:r>
              <a:rPr sz="2300" b="1" i="0">
                <a:solidFill>
                  <a:srgbClr val="FFFFFF"/>
                </a:solidFill>
                <a:latin typeface="Cambria"/>
                <a:cs typeface="Cambria"/>
              </a:rPr>
              <a:t>“how loud was that second?”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691640"/>
            <a:ext cx="464789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sz="1450" b="0" i="0">
                <a:solidFill>
                  <a:srgbClr val="C3D0DC"/>
                </a:solidFill>
                <a:latin typeface="Calibri"/>
                <a:cs typeface="Calibri"/>
              </a:rPr>
              <a:t>A recording is millions of tiny pressure measurements. RMS collapses one second of them into a single value describing the average energy in that second — like averaging a wobbling scale reading instead of recording every twitch.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3502152" cy="2057400"/>
          </a:xfrm>
          <a:prstGeom prst="roundRect">
            <a:avLst>
              <a:gd name="adj" fmla="val 4444"/>
            </a:avLst>
          </a:prstGeom>
          <a:solidFill>
            <a:srgbClr val="0C1A2E"/>
          </a:solidFill>
          <a:ln w="9525">
            <a:solidFill>
              <a:srgbClr val="2C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4059936"/>
            <a:ext cx="28437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7BE3C4"/>
                </a:solidFill>
                <a:latin typeface="Courier New"/>
                <a:cs typeface="Courier New"/>
              </a:rPr>
              <a:t>rmsEnergy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4389120"/>
            <a:ext cx="2843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0" i="1">
                <a:solidFill>
                  <a:srgbClr val="E8A33D"/>
                </a:solidFill>
                <a:latin typeface="Calibri"/>
                <a:cs typeface="Calibri"/>
              </a:rPr>
              <a:t>Decibels, negative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4718304"/>
            <a:ext cx="284378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sz="1250" b="0" i="0">
                <a:solidFill>
                  <a:srgbClr val="AFC0CE"/>
                </a:solidFill>
                <a:latin typeface="Calibri"/>
                <a:cs typeface="Calibri"/>
              </a:rPr>
              <a:t>Measured against the loudest sound the recorder can capture. Quiet seconds sit far below zero; louder passes climb toward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840480"/>
            <a:ext cx="3502152" cy="2057400"/>
          </a:xfrm>
          <a:prstGeom prst="roundRect">
            <a:avLst>
              <a:gd name="adj" fmla="val 4444"/>
            </a:avLst>
          </a:prstGeom>
          <a:solidFill>
            <a:srgbClr val="0C1A2E"/>
          </a:solidFill>
          <a:ln w="9525">
            <a:solidFill>
              <a:srgbClr val="2C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55464" y="4059936"/>
            <a:ext cx="28437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7BE3C4"/>
                </a:solidFill>
                <a:latin typeface="Courier New"/>
                <a:cs typeface="Courier New"/>
              </a:rPr>
              <a:t>AdjustedValue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4389120"/>
            <a:ext cx="2843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0" i="1">
                <a:solidFill>
                  <a:srgbClr val="E8A33D"/>
                </a:solidFill>
                <a:latin typeface="Calibri"/>
                <a:cs typeface="Calibri"/>
              </a:rPr>
              <a:t>The same values, shifted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4718304"/>
            <a:ext cx="284378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sz="1250" b="0" i="0">
                <a:solidFill>
                  <a:srgbClr val="AFC0CE"/>
                </a:solidFill>
                <a:latin typeface="Calibri"/>
                <a:cs typeface="Calibri"/>
              </a:rPr>
              <a:t>The quietest second in the file is moved to zero and everything else moves with it. Easier to plot, and easier to sum.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840480"/>
            <a:ext cx="3502152" cy="2057400"/>
          </a:xfrm>
          <a:prstGeom prst="roundRect">
            <a:avLst>
              <a:gd name="adj" fmla="val 4444"/>
            </a:avLst>
          </a:prstGeom>
          <a:solidFill>
            <a:srgbClr val="0C1A2E"/>
          </a:solidFill>
          <a:ln w="9525">
            <a:solidFill>
              <a:srgbClr val="2C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41663" y="4059936"/>
            <a:ext cx="28437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7BE3C4"/>
                </a:solidFill>
                <a:latin typeface="Courier New"/>
                <a:cs typeface="Courier New"/>
              </a:rPr>
              <a:t>total_raw_rmse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1663" y="4389120"/>
            <a:ext cx="2843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0" i="1">
                <a:solidFill>
                  <a:srgbClr val="E8A33D"/>
                </a:solidFill>
                <a:latin typeface="Calibri"/>
                <a:cs typeface="Calibri"/>
              </a:rPr>
              <a:t>Repeated on every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3" y="4718304"/>
            <a:ext cx="284378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sz="1250" b="0" i="0">
                <a:solidFill>
                  <a:srgbClr val="AFC0CE"/>
                </a:solidFill>
                <a:latin typeface="Calibri"/>
                <a:cs typeface="Calibri"/>
              </a:rPr>
              <a:t>The sum across the whole night. It is the same number in every row of the file — read it once, do not add the column 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029475"/>
                </a:solidFill>
                <a:latin typeface="Calibri"/>
                <a:cs typeface="Calibri"/>
              </a:rPr>
              <a:t>GETTING SET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 dirty="0">
                <a:solidFill>
                  <a:srgbClr val="16233A"/>
                </a:solidFill>
                <a:latin typeface="Cambria"/>
                <a:cs typeface="Cambria"/>
              </a:rPr>
              <a:t>There are only t</a:t>
            </a:r>
            <a:r>
              <a:rPr lang="en-US" sz="3300" b="1" i="0" dirty="0">
                <a:solidFill>
                  <a:srgbClr val="16233A"/>
                </a:solidFill>
                <a:latin typeface="Cambria"/>
                <a:cs typeface="Cambria"/>
              </a:rPr>
              <a:t>wo</a:t>
            </a:r>
            <a:r>
              <a:rPr sz="3300" b="1" i="0" dirty="0">
                <a:solidFill>
                  <a:srgbClr val="16233A"/>
                </a:solidFill>
                <a:latin typeface="Cambria"/>
                <a:cs typeface="Cambria"/>
              </a:rPr>
              <a:t> files you ever touch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502152" cy="3977639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9525">
            <a:solidFill>
              <a:srgbClr val="FF0000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9264" y="1874519"/>
            <a:ext cx="1600200" cy="347472"/>
          </a:xfrm>
          <a:prstGeom prst="roundRect">
            <a:avLst>
              <a:gd name="adj" fmla="val 23684"/>
            </a:avLst>
          </a:prstGeom>
          <a:solidFill>
            <a:srgbClr val="EB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950" b="1" i="0">
                <a:solidFill>
                  <a:srgbClr val="5A6874"/>
                </a:solidFill>
                <a:latin typeface="Calibri"/>
                <a:cs typeface="Calibri"/>
              </a:rPr>
              <a:t>DON'T 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2395728"/>
            <a:ext cx="2843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16233A"/>
                </a:solidFill>
                <a:latin typeface="Courier New"/>
                <a:cs typeface="Courier New"/>
              </a:rPr>
              <a:t>Snakefile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907792"/>
            <a:ext cx="284378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  <a:buNone/>
            </a:pPr>
            <a:r>
              <a:rPr sz="1350" b="0" i="0">
                <a:solidFill>
                  <a:srgbClr val="465369"/>
                </a:solidFill>
                <a:latin typeface="Calibri"/>
                <a:cs typeface="Calibri"/>
              </a:rPr>
              <a:t>The recipe. Four rules, and the place a fifth would slot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" y="4315968"/>
            <a:ext cx="2843784" cy="960120"/>
          </a:xfrm>
          <a:prstGeom prst="roundRect">
            <a:avLst>
              <a:gd name="adj" fmla="val 6666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7" y="4315968"/>
            <a:ext cx="236829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sz="1250" b="0" i="1">
                <a:solidFill>
                  <a:srgbClr val="63707F"/>
                </a:solidFill>
                <a:latin typeface="Calibri"/>
                <a:cs typeface="Calibri"/>
              </a:rPr>
              <a:t>Leave it alone unless you are adding a new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00200"/>
            <a:ext cx="3502152" cy="3977639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9525">
            <a:solidFill>
              <a:srgbClr val="009475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55464" y="1874519"/>
            <a:ext cx="1600200" cy="347472"/>
          </a:xfrm>
          <a:prstGeom prst="roundRect">
            <a:avLst>
              <a:gd name="adj" fmla="val 23684"/>
            </a:avLst>
          </a:prstGeom>
          <a:solidFill>
            <a:srgbClr val="E2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950" b="1" i="0">
                <a:solidFill>
                  <a:srgbClr val="0A5C48"/>
                </a:solidFill>
                <a:latin typeface="Calibri"/>
                <a:cs typeface="Calibri"/>
              </a:rPr>
              <a:t>EDIT PER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2395728"/>
            <a:ext cx="2843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16233A"/>
                </a:solidFill>
                <a:latin typeface="Courier New"/>
                <a:cs typeface="Courier New"/>
              </a:rPr>
              <a:t>config.yaml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907792"/>
            <a:ext cx="284378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  <a:buNone/>
            </a:pPr>
            <a:r>
              <a:rPr sz="1350" b="0" i="0">
                <a:solidFill>
                  <a:srgbClr val="465369"/>
                </a:solidFill>
                <a:latin typeface="Calibri"/>
                <a:cs typeface="Calibri"/>
              </a:rPr>
              <a:t>Your settings: slice length, file type, sampling rate, gain offset, filter band.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55464" y="4315968"/>
            <a:ext cx="2843784" cy="960120"/>
          </a:xfrm>
          <a:prstGeom prst="roundRect">
            <a:avLst>
              <a:gd name="adj" fmla="val 6666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93208" y="4315968"/>
            <a:ext cx="236829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sz="1250" b="0" i="1">
                <a:solidFill>
                  <a:srgbClr val="029475"/>
                </a:solidFill>
                <a:latin typeface="Calibri"/>
                <a:cs typeface="Calibri"/>
              </a:rPr>
              <a:t>Change these to match your recorders.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600200"/>
            <a:ext cx="3502152" cy="3977639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9525">
            <a:solidFill>
              <a:srgbClr val="009475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41663" y="1874519"/>
            <a:ext cx="1600200" cy="347472"/>
          </a:xfrm>
          <a:prstGeom prst="roundRect">
            <a:avLst>
              <a:gd name="adj" fmla="val 23684"/>
            </a:avLst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950" b="1" i="0">
                <a:solidFill>
                  <a:srgbClr val="9A6A1E"/>
                </a:solidFill>
                <a:latin typeface="Calibri"/>
                <a:cs typeface="Calibri"/>
              </a:rPr>
              <a:t>EDIT PER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3" y="2395728"/>
            <a:ext cx="2843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16233A"/>
                </a:solidFill>
                <a:latin typeface="Courier New"/>
                <a:cs typeface="Courier New"/>
              </a:rPr>
              <a:t>folders.csv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3" y="2907792"/>
            <a:ext cx="284378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  <a:buNone/>
            </a:pPr>
            <a:r>
              <a:rPr sz="1350" b="0" i="0">
                <a:solidFill>
                  <a:srgbClr val="465369"/>
                </a:solidFill>
                <a:latin typeface="Calibri"/>
                <a:cs typeface="Calibri"/>
              </a:rPr>
              <a:t>The list of sites to process — a short name and the folder path for each.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41663" y="4315968"/>
            <a:ext cx="2843784" cy="960120"/>
          </a:xfrm>
          <a:prstGeom prst="roundRect">
            <a:avLst>
              <a:gd name="adj" fmla="val 6666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79407" y="4315968"/>
            <a:ext cx="236829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sz="1250" b="0" i="1">
                <a:solidFill>
                  <a:srgbClr val="9A6A1E"/>
                </a:solidFill>
                <a:latin typeface="Calibri"/>
                <a:cs typeface="Calibri"/>
              </a:rPr>
              <a:t>Add one line per site or deployment.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91153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 i="1" dirty="0">
                <a:solidFill>
                  <a:srgbClr val="63707F"/>
                </a:solidFill>
                <a:latin typeface="Calibri"/>
                <a:cs typeface="Calibri"/>
              </a:rPr>
              <a:t>Everything else in the folder is machinery </a:t>
            </a:r>
            <a:r>
              <a:rPr lang="en-US" sz="1400" b="0" i="1" dirty="0">
                <a:solidFill>
                  <a:srgbClr val="63707F"/>
                </a:solidFill>
                <a:latin typeface="Calibri"/>
                <a:cs typeface="Calibri"/>
              </a:rPr>
              <a:t>and you can largely ignore it.</a:t>
            </a:r>
            <a:endParaRPr sz="1400" b="0" i="1" dirty="0">
              <a:solidFill>
                <a:srgbClr val="63707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029475"/>
                </a:solidFill>
                <a:latin typeface="Calibri"/>
                <a:cs typeface="Calibri"/>
              </a:rPr>
              <a:t>CONFIG.YAML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16233A"/>
                </a:solidFill>
                <a:latin typeface="Cambria"/>
                <a:cs typeface="Cambria"/>
              </a:rPr>
              <a:t>The settings you control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72768"/>
          <a:ext cx="10911535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Setting</a:t>
                      </a:r>
                    </a:p>
                  </a:txBody>
                  <a:tcPr marL="146304" marR="146304" anchor="ctr"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Our default</a:t>
                      </a:r>
                    </a:p>
                  </a:txBody>
                  <a:tcPr marL="146304" marR="146304" anchor="ctr"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 it means</a:t>
                      </a:r>
                    </a:p>
                  </a:txBody>
                  <a:tcPr marL="146304" marR="146304" anchor="ctr">
                    <a:solidFill>
                      <a:srgbClr val="12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A5C48"/>
                          </a:solidFill>
                          <a:latin typeface="Courier New"/>
                          <a:cs typeface="Courier New"/>
                        </a:rPr>
                        <a:t>segmentDuration</a:t>
                      </a:r>
                    </a:p>
                  </a:txBody>
                  <a:tcPr marL="146304" marR="146304" anchor="ctr">
                    <a:solidFill>
                      <a:srgbClr val="EB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623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</a:p>
                  </a:txBody>
                  <a:tcPr marL="146304" marR="146304" anchor="ctr">
                    <a:solidFill>
                      <a:srgbClr val="EB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465369"/>
                          </a:solidFill>
                          <a:latin typeface="Calibri"/>
                          <a:cs typeface="Calibri"/>
                        </a:rPr>
                        <a:t>How many seconds of audio go into each measurement. 1 gives one value per second.</a:t>
                      </a:r>
                    </a:p>
                  </a:txBody>
                  <a:tcPr marL="146304" marR="146304" anchor="ctr">
                    <a:solidFill>
                      <a:srgbClr val="EB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A5C48"/>
                          </a:solidFill>
                          <a:latin typeface="Courier New"/>
                          <a:cs typeface="Courier New"/>
                        </a:rPr>
                        <a:t>fileType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6233A"/>
                          </a:solidFill>
                          <a:latin typeface="Courier New"/>
                          <a:cs typeface="Courier New"/>
                        </a:rPr>
                        <a:t>.WAV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465369"/>
                          </a:solidFill>
                          <a:latin typeface="Calibri"/>
                          <a:cs typeface="Calibri"/>
                        </a:rPr>
                        <a:t>Which files to look for. Anything else in the folder is ignored.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A5C48"/>
                          </a:solidFill>
                          <a:latin typeface="Courier New"/>
                          <a:cs typeface="Courier New"/>
                        </a:rPr>
                        <a:t>samplingRate</a:t>
                      </a:r>
                    </a:p>
                  </a:txBody>
                  <a:tcPr marL="146304" marR="146304" anchor="ctr">
                    <a:solidFill>
                      <a:srgbClr val="EB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6233A"/>
                          </a:solidFill>
                          <a:latin typeface="Courier New"/>
                          <a:cs typeface="Courier New"/>
                        </a:rPr>
                        <a:t>192000</a:t>
                      </a:r>
                    </a:p>
                  </a:txBody>
                  <a:tcPr marL="146304" marR="146304" anchor="ctr">
                    <a:solidFill>
                      <a:srgbClr val="EB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465369"/>
                          </a:solidFill>
                          <a:latin typeface="Calibri"/>
                          <a:cs typeface="Calibri"/>
                        </a:rPr>
                        <a:t>Your recorder's sampling rate, in Hz. Must match the AudioMoth setting used in the field.</a:t>
                      </a:r>
                    </a:p>
                  </a:txBody>
                  <a:tcPr marL="146304" marR="146304" anchor="ctr">
                    <a:solidFill>
                      <a:srgbClr val="EB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A5C48"/>
                          </a:solidFill>
                          <a:latin typeface="Courier New"/>
                          <a:cs typeface="Courier New"/>
                        </a:rPr>
                        <a:t>gainOffset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6233A"/>
                          </a:solidFill>
                          <a:latin typeface="Courier New"/>
                          <a:cs typeface="Courier New"/>
                        </a:rPr>
                        <a:t>6.3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465369"/>
                          </a:solidFill>
                          <a:latin typeface="Calibri"/>
                          <a:cs typeface="Calibri"/>
                        </a:rPr>
                        <a:t>A fixed decibel correction for recorder gain, so different setups stay comparable.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A5C48"/>
                          </a:solidFill>
                          <a:latin typeface="Courier New"/>
                          <a:cs typeface="Courier New"/>
                        </a:rPr>
                        <a:t>bwFilterFrom</a:t>
                      </a:r>
                    </a:p>
                  </a:txBody>
                  <a:tcPr marL="146304" marR="146304" anchor="ctr">
                    <a:solidFill>
                      <a:srgbClr val="EB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6233A"/>
                          </a:solidFill>
                          <a:latin typeface="Courier New"/>
                          <a:cs typeface="Courier New"/>
                        </a:rPr>
                        <a:t>30000</a:t>
                      </a:r>
                    </a:p>
                  </a:txBody>
                  <a:tcPr marL="146304" marR="146304" anchor="ctr">
                    <a:solidFill>
                      <a:srgbClr val="EB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465369"/>
                          </a:solidFill>
                          <a:latin typeface="Calibri"/>
                          <a:cs typeface="Calibri"/>
                        </a:rPr>
                        <a:t>Bottom of the frequency band to keep — 30 kHz.</a:t>
                      </a:r>
                    </a:p>
                  </a:txBody>
                  <a:tcPr marL="146304" marR="146304" anchor="ctr">
                    <a:solidFill>
                      <a:srgbClr val="EB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A5C48"/>
                          </a:solidFill>
                          <a:latin typeface="Courier New"/>
                          <a:cs typeface="Courier New"/>
                        </a:rPr>
                        <a:t>bwFilterTo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6233A"/>
                          </a:solidFill>
                          <a:latin typeface="Courier New"/>
                          <a:cs typeface="Courier New"/>
                        </a:rPr>
                        <a:t>70000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465369"/>
                          </a:solidFill>
                          <a:latin typeface="Calibri"/>
                          <a:cs typeface="Calibri"/>
                        </a:rPr>
                        <a:t>Top of the frequency band to keep — 70 kHz.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800600"/>
            <a:ext cx="10911535" cy="1097280"/>
          </a:xfrm>
          <a:prstGeom prst="roundRect">
            <a:avLst>
              <a:gd name="adj" fmla="val 7500"/>
            </a:avLst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4800600"/>
            <a:ext cx="9997135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sz="1400" b="1" i="0">
                <a:solidFill>
                  <a:srgbClr val="8A5A12"/>
                </a:solidFill>
                <a:latin typeface="Calibri"/>
                <a:cs typeface="Calibri"/>
              </a:rPr>
              <a:t>Worth knowing:  </a:t>
            </a:r>
            <a:r>
              <a:rPr sz="1400" b="0" i="0">
                <a:solidFill>
                  <a:srgbClr val="6B4A14"/>
                </a:solidFill>
                <a:latin typeface="Calibri"/>
                <a:cs typeface="Calibri"/>
              </a:rPr>
              <a:t>the filter band is the setting with real scientific consequence. 30–70 kHz suits our target species; widen or narrow it and you change what counts as a bat. Change it deliberately, and write down that you did.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029475"/>
                </a:solidFill>
                <a:latin typeface="Calibri"/>
                <a:cs typeface="Calibri"/>
              </a:rPr>
              <a:t>FOLDERS.CSV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16233A"/>
                </a:solidFill>
                <a:latin typeface="Cambria"/>
                <a:cs typeface="Cambria"/>
              </a:rPr>
              <a:t>Telling it what to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465369"/>
                </a:solidFill>
                <a:latin typeface="Calibri"/>
                <a:cs typeface="Calibri"/>
              </a:rPr>
              <a:t>A plain two-column spreadsheet: a short name you choose, and the full path to the folder of recordings. One line per site or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6949440" cy="1371600"/>
          </a:xfrm>
          <a:prstGeom prst="roundRect">
            <a:avLst>
              <a:gd name="adj" fmla="val 4000"/>
            </a:avLst>
          </a:prstGeom>
          <a:solidFill>
            <a:srgbClr val="12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112264"/>
            <a:ext cx="6510527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  <a:buNone/>
            </a:pPr>
            <a:r>
              <a:rPr sz="1300" b="1" i="0">
                <a:solidFill>
                  <a:srgbClr val="7BE3C4"/>
                </a:solidFill>
                <a:latin typeface="Courier New"/>
                <a:cs typeface="Courier New"/>
              </a:rPr>
              <a:t>sample,folder</a:t>
            </a:r>
          </a:p>
          <a:p>
            <a:pPr algn="l">
              <a:lnSpc>
                <a:spcPts val="1850"/>
              </a:lnSpc>
              <a:buNone/>
            </a:pPr>
            <a:r>
              <a:rPr sz="1300" b="0" i="0">
                <a:solidFill>
                  <a:srgbClr val="FFFFFF"/>
                </a:solidFill>
                <a:latin typeface="Courier New"/>
                <a:cs typeface="Courier New"/>
              </a:rPr>
              <a:t>PAB_AM68,/Volumes/BatData/PAB_BB_052925_AM68_ML_LGE</a:t>
            </a:r>
          </a:p>
          <a:p>
            <a:pPr algn="l">
              <a:lnSpc>
                <a:spcPts val="1850"/>
              </a:lnSpc>
              <a:buNone/>
            </a:pPr>
            <a:r>
              <a:rPr sz="1300" b="0" i="0">
                <a:solidFill>
                  <a:srgbClr val="FFFFFF"/>
                </a:solidFill>
                <a:latin typeface="Courier New"/>
                <a:cs typeface="Courier New"/>
              </a:rPr>
              <a:t>PAB_AM78,/Volumes/BatData/PAB_BB_052925_AM78_M_LGE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50" b="0" i="1">
                <a:solidFill>
                  <a:srgbClr val="63707F"/>
                </a:solidFill>
                <a:latin typeface="Calibri"/>
                <a:cs typeface="Calibri"/>
              </a:rPr>
              <a:t>The name on the left becomes the name of your results folder.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77639"/>
            <a:ext cx="6949440" cy="1737360"/>
          </a:xfrm>
          <a:prstGeom prst="roundRect">
            <a:avLst>
              <a:gd name="adj" fmla="val 4736"/>
            </a:avLst>
          </a:prstGeom>
          <a:solidFill>
            <a:srgbClr val="E2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A5C48"/>
                </a:solidFill>
                <a:latin typeface="Calibri"/>
                <a:cs typeface="Calibri"/>
              </a:rPr>
              <a:t>Why a list, and not “just process everything”?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72000"/>
            <a:ext cx="6126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sz="1300" b="0" i="0">
                <a:solidFill>
                  <a:srgbClr val="0A5C48"/>
                </a:solidFill>
                <a:latin typeface="Calibri"/>
                <a:cs typeface="Calibri"/>
              </a:rPr>
              <a:t>Because you decide what a run contains. Process one new deployment tonight, or re-run a whole season, by editing three lines — and the file is a record of exactly which data went into that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965960"/>
            <a:ext cx="3504895" cy="3749039"/>
          </a:xfrm>
          <a:prstGeom prst="roundRect">
            <a:avLst>
              <a:gd name="adj" fmla="val 234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2240280"/>
            <a:ext cx="27733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Three ways this goes wrong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0" y="2788920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7" y="2770632"/>
            <a:ext cx="2297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16233A"/>
                </a:solidFill>
                <a:latin typeface="Calibri"/>
                <a:cs typeface="Calibri"/>
              </a:rPr>
              <a:t>Commas, not tabs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7" y="3081527"/>
            <a:ext cx="229788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00" b="0" i="0">
                <a:solidFill>
                  <a:srgbClr val="465369"/>
                </a:solidFill>
                <a:latin typeface="Calibri"/>
                <a:cs typeface="Calibri"/>
              </a:rPr>
              <a:t>Save as comma-separated. Excel's tab or semicolon export will not be read.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0" y="3794760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7" y="3776472"/>
            <a:ext cx="2297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16233A"/>
                </a:solidFill>
                <a:latin typeface="Calibri"/>
                <a:cs typeface="Calibri"/>
              </a:rPr>
              <a:t>No stray spaces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7" y="4087368"/>
            <a:ext cx="229788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00" b="0" i="0">
                <a:solidFill>
                  <a:srgbClr val="465369"/>
                </a:solidFill>
                <a:latin typeface="Calibri"/>
                <a:cs typeface="Calibri"/>
              </a:rPr>
              <a:t>A space before or after a path breaks the lookup, silently.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4800600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7" y="4782312"/>
            <a:ext cx="2297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16233A"/>
                </a:solidFill>
                <a:latin typeface="Calibri"/>
                <a:cs typeface="Calibri"/>
              </a:rPr>
              <a:t>Paths must exist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7" y="5093208"/>
            <a:ext cx="229788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00" b="0" i="0">
                <a:solidFill>
                  <a:srgbClr val="465369"/>
                </a:solidFill>
                <a:latin typeface="Calibri"/>
                <a:cs typeface="Calibri"/>
              </a:rPr>
              <a:t>Check the external drive is mounted before starting a long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029475"/>
                </a:solidFill>
                <a:latin typeface="Calibri"/>
                <a:cs typeface="Calibri"/>
              </a:rPr>
              <a:t>DAY OF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16233A"/>
                </a:solidFill>
                <a:latin typeface="Cambria"/>
                <a:cs typeface="Cambria"/>
              </a:rPr>
              <a:t>Running the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911535" cy="128016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9264" y="1993392"/>
            <a:ext cx="502920" cy="502920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0136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Install the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4884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00" b="0" i="0">
                <a:solidFill>
                  <a:srgbClr val="465369"/>
                </a:solidFill>
                <a:latin typeface="Calibri"/>
                <a:cs typeface="Calibri"/>
              </a:rPr>
              <a:t>Once per computer. Pulls R, Snakemake and every package into the project folder. Nothing to activate.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84248"/>
            <a:ext cx="4739335" cy="530352"/>
          </a:xfrm>
          <a:prstGeom prst="roundRect">
            <a:avLst>
              <a:gd name="adj" fmla="val 10344"/>
            </a:avLst>
          </a:prstGeom>
          <a:solidFill>
            <a:srgbClr val="12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984248"/>
            <a:ext cx="42821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7BE3C4"/>
                </a:solidFill>
                <a:latin typeface="Courier New"/>
                <a:cs typeface="Courier New"/>
              </a:rPr>
              <a:t>pixi install &amp;&amp; pixi run setup-r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63240"/>
            <a:ext cx="10911535" cy="128016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9264" y="3456432"/>
            <a:ext cx="502920" cy="502920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6440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Start it, and let it run in the 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1188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00" b="0" i="0">
                <a:solidFill>
                  <a:srgbClr val="465369"/>
                </a:solidFill>
                <a:latin typeface="Calibri"/>
                <a:cs typeface="Calibri"/>
              </a:rPr>
              <a:t>You can close the laptop lid and the job keeps going. It prints a job number so you can check on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447288"/>
            <a:ext cx="4739335" cy="530352"/>
          </a:xfrm>
          <a:prstGeom prst="roundRect">
            <a:avLst>
              <a:gd name="adj" fmla="val 10344"/>
            </a:avLst>
          </a:prstGeom>
          <a:solidFill>
            <a:srgbClr val="12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3447288"/>
            <a:ext cx="42821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7BE3C4"/>
                </a:solidFill>
                <a:latin typeface="Courier New"/>
                <a:cs typeface="Courier New"/>
              </a:rPr>
              <a:t>nohup pixi run pipeline &amp;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26280"/>
            <a:ext cx="10911535" cy="128016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9264" y="4919472"/>
            <a:ext cx="502920" cy="502920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7274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Read the run log when it finishes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0749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00" b="0" i="0">
                <a:solidFill>
                  <a:srgbClr val="465369"/>
                </a:solidFill>
                <a:latin typeface="Calibri"/>
                <a:cs typeface="Calibri"/>
              </a:rPr>
              <a:t>Every rule's log, in order, in one file. This is the file to send us if something looks wrong.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910328"/>
            <a:ext cx="4739335" cy="530352"/>
          </a:xfrm>
          <a:prstGeom prst="roundRect">
            <a:avLst>
              <a:gd name="adj" fmla="val 10344"/>
            </a:avLst>
          </a:prstGeom>
          <a:solidFill>
            <a:srgbClr val="12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4910328"/>
            <a:ext cx="42821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7BE3C4"/>
                </a:solidFill>
                <a:latin typeface="Courier New"/>
                <a:cs typeface="Courier New"/>
              </a:rPr>
              <a:t>less results/full_pipeline_run_log.log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 i="1">
                <a:solidFill>
                  <a:srgbClr val="63707F"/>
                </a:solidFill>
                <a:latin typeface="Calibri"/>
                <a:cs typeface="Calibri"/>
              </a:rPr>
              <a:t>Run it from inside the SnakeBat folder. To stop a background job, use the job number it printed:  kill -9 79417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029475"/>
                </a:solidFill>
                <a:latin typeface="Calibri"/>
                <a:cs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16233A"/>
                </a:solidFill>
                <a:latin typeface="Cambria"/>
                <a:cs typeface="Cambria"/>
              </a:rPr>
              <a:t>What you get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5623560" cy="2880360"/>
          </a:xfrm>
          <a:prstGeom prst="roundRect">
            <a:avLst>
              <a:gd name="adj" fmla="val 1904"/>
            </a:avLst>
          </a:prstGeom>
          <a:solidFill>
            <a:srgbClr val="12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719072"/>
            <a:ext cx="5184648" cy="2587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sz="1150" b="1" i="0">
                <a:solidFill>
                  <a:srgbClr val="FFFFFF"/>
                </a:solidFill>
                <a:latin typeface="Courier New"/>
                <a:cs typeface="Courier New"/>
              </a:rPr>
              <a:t>SnakeBat/</a:t>
            </a:r>
          </a:p>
          <a:p>
            <a:pPr algn="l">
              <a:lnSpc>
                <a:spcPts val="1700"/>
              </a:lnSpc>
              <a:buNone/>
            </a:pPr>
            <a:r>
              <a:rPr sz="1150" b="1" i="0">
                <a:solidFill>
                  <a:srgbClr val="7BE3C4"/>
                </a:solidFill>
                <a:latin typeface="Courier New"/>
                <a:cs typeface="Courier New"/>
              </a:rPr>
              <a:t>|-- results/</a:t>
            </a:r>
          </a:p>
          <a:p>
            <a:pPr algn="l">
              <a:lnSpc>
                <a:spcPts val="1700"/>
              </a:lnSpc>
              <a:buNone/>
            </a:pPr>
            <a:r>
              <a:rPr sz="1150" b="0" i="0">
                <a:solidFill>
                  <a:srgbClr val="AFC0CE"/>
                </a:solidFill>
                <a:latin typeface="Courier New"/>
                <a:cs typeface="Courier New"/>
              </a:rPr>
              <a:t>|     |-- RMS_Power/     per-second values</a:t>
            </a:r>
          </a:p>
          <a:p>
            <a:pPr algn="l">
              <a:lnSpc>
                <a:spcPts val="1700"/>
              </a:lnSpc>
              <a:buNone/>
            </a:pPr>
            <a:r>
              <a:rPr sz="1150" b="0" i="0">
                <a:solidFill>
                  <a:srgbClr val="AFC0CE"/>
                </a:solidFill>
                <a:latin typeface="Courier New"/>
                <a:cs typeface="Courier New"/>
              </a:rPr>
              <a:t>|     |-- Total_RMSE/    per night, per site</a:t>
            </a:r>
          </a:p>
          <a:p>
            <a:pPr algn="l">
              <a:lnSpc>
                <a:spcPts val="1700"/>
              </a:lnSpc>
              <a:buNone/>
            </a:pPr>
            <a:r>
              <a:rPr sz="1150" b="0" i="0">
                <a:solidFill>
                  <a:srgbClr val="7BE3C4"/>
                </a:solidFill>
                <a:latin typeface="Courier New"/>
                <a:cs typeface="Courier New"/>
              </a:rPr>
              <a:t>|     |-- Summary/</a:t>
            </a:r>
          </a:p>
          <a:p>
            <a:pPr algn="l">
              <a:lnSpc>
                <a:spcPts val="1700"/>
              </a:lnSpc>
              <a:buNone/>
            </a:pPr>
            <a:r>
              <a:rPr sz="1150" b="0" i="0">
                <a:solidFill>
                  <a:srgbClr val="AFC0CE"/>
                </a:solidFill>
                <a:latin typeface="Courier New"/>
                <a:cs typeface="Courier New"/>
              </a:rPr>
              <a:t>|     |     |-- &lt;site&gt;_combined_daily_totals.csv</a:t>
            </a:r>
          </a:p>
          <a:p>
            <a:pPr algn="l">
              <a:lnSpc>
                <a:spcPts val="1700"/>
              </a:lnSpc>
              <a:buNone/>
            </a:pPr>
            <a:r>
              <a:rPr sz="1150" b="0" i="0">
                <a:solidFill>
                  <a:srgbClr val="AFC0CE"/>
                </a:solidFill>
                <a:latin typeface="Courier New"/>
                <a:cs typeface="Courier New"/>
              </a:rPr>
              <a:t>|     |     |-- all_samples_nightly_totals.csv</a:t>
            </a:r>
          </a:p>
          <a:p>
            <a:pPr algn="l">
              <a:lnSpc>
                <a:spcPts val="1700"/>
              </a:lnSpc>
              <a:buNone/>
            </a:pPr>
            <a:r>
              <a:rPr sz="1150" b="0" i="0">
                <a:solidFill>
                  <a:srgbClr val="7BE3C4"/>
                </a:solidFill>
                <a:latin typeface="Courier New"/>
                <a:cs typeface="Courier New"/>
              </a:rPr>
              <a:t>|     |-- plots/</a:t>
            </a:r>
          </a:p>
          <a:p>
            <a:pPr algn="l">
              <a:lnSpc>
                <a:spcPts val="1700"/>
              </a:lnSpc>
              <a:buNone/>
            </a:pPr>
            <a:r>
              <a:rPr sz="1150" b="0" i="0">
                <a:solidFill>
                  <a:srgbClr val="AFC0CE"/>
                </a:solidFill>
                <a:latin typeface="Courier New"/>
                <a:cs typeface="Courier New"/>
              </a:rPr>
              <a:t>|     |     |-- &lt;site&gt;_nightly_rmse.png</a:t>
            </a:r>
          </a:p>
          <a:p>
            <a:pPr algn="l">
              <a:lnSpc>
                <a:spcPts val="1700"/>
              </a:lnSpc>
              <a:buNone/>
            </a:pPr>
            <a:r>
              <a:rPr sz="1150" b="0" i="0">
                <a:solidFill>
                  <a:srgbClr val="E8A33D"/>
                </a:solidFill>
                <a:latin typeface="Courier New"/>
                <a:cs typeface="Courier New"/>
              </a:rPr>
              <a:t>|     |-- full_pipeline_run_log.log</a:t>
            </a:r>
          </a:p>
          <a:p>
            <a:pPr algn="l">
              <a:lnSpc>
                <a:spcPts val="1700"/>
              </a:lnSpc>
              <a:buNone/>
            </a:pPr>
            <a:r>
              <a:rPr sz="1150" b="0" i="0">
                <a:solidFill>
                  <a:srgbClr val="AFC0CE"/>
                </a:solidFill>
                <a:latin typeface="Courier New"/>
                <a:cs typeface="Courier New"/>
              </a:rPr>
              <a:t>|-- logs/                one per rule, per 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572768"/>
            <a:ext cx="4876495" cy="932688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4304" y="1719072"/>
            <a:ext cx="4218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029475"/>
                </a:solidFill>
                <a:latin typeface="Courier New"/>
                <a:cs typeface="Courier New"/>
              </a:rPr>
              <a:t>Summary/all_samples...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4304" y="2029967"/>
            <a:ext cx="42181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00" b="0" i="0">
                <a:solidFill>
                  <a:srgbClr val="465369"/>
                </a:solidFill>
                <a:latin typeface="Calibri"/>
                <a:cs typeface="Calibri"/>
              </a:rPr>
              <a:t>The one to open in Excel. One row per site per night, with totals and the Julian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670048"/>
            <a:ext cx="4876495" cy="932688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04304" y="2816352"/>
            <a:ext cx="4218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029475"/>
                </a:solidFill>
                <a:latin typeface="Courier New"/>
                <a:cs typeface="Courier New"/>
              </a:rPr>
              <a:t>Summary/&lt;site&gt;_combined...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4304" y="3127248"/>
            <a:ext cx="42181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00" b="0" i="0">
                <a:solidFill>
                  <a:srgbClr val="465369"/>
                </a:solidFill>
                <a:latin typeface="Calibri"/>
                <a:cs typeface="Calibri"/>
              </a:rPr>
              <a:t>Every second for that site, all nights stacked. For analysis in 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767328"/>
            <a:ext cx="4876495" cy="932688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4304" y="3913632"/>
            <a:ext cx="4218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029475"/>
                </a:solidFill>
                <a:latin typeface="Courier New"/>
                <a:cs typeface="Courier New"/>
              </a:rPr>
              <a:t>plots/&lt;site&gt;_nightly_rmse.png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4224528"/>
            <a:ext cx="42181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00" b="0" i="0">
                <a:solidFill>
                  <a:srgbClr val="465369"/>
                </a:solidFill>
                <a:latin typeface="Calibri"/>
                <a:cs typeface="Calibri"/>
              </a:rPr>
              <a:t>Nightly energy against Julian date, with a smoothed trend line once four nights exist.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864607"/>
            <a:ext cx="4876495" cy="932688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04304" y="5010912"/>
            <a:ext cx="4218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8A33D"/>
                </a:solidFill>
                <a:latin typeface="Courier New"/>
                <a:cs typeface="Courier New"/>
              </a:rPr>
              <a:t>full_pipeline_run_log.log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5321807"/>
            <a:ext cx="42181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00" b="0" i="0">
                <a:solidFill>
                  <a:srgbClr val="465369"/>
                </a:solidFill>
                <a:latin typeface="Calibri"/>
                <a:cs typeface="Calibri"/>
              </a:rPr>
              <a:t>Every rule's log, concatenated in order. Written last, so it also means “finished”.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00600"/>
            <a:ext cx="5623560" cy="914400"/>
          </a:xfrm>
          <a:prstGeom prst="roundRect">
            <a:avLst>
              <a:gd name="adj" fmla="val 9000"/>
            </a:avLst>
          </a:prstGeom>
          <a:solidFill>
            <a:srgbClr val="E2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sz="1300" b="0" i="1">
                <a:solidFill>
                  <a:srgbClr val="0A5C48"/>
                </a:solidFill>
                <a:latin typeface="Calibri"/>
                <a:cs typeface="Calibri"/>
              </a:rPr>
              <a:t>Everything lands under results/. Nothing is written loose in the project folder.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029475"/>
                </a:solidFill>
                <a:latin typeface="Calibri"/>
                <a:cs typeface="Calibri"/>
              </a:rPr>
              <a:t>IF IT WILL NOT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16233A"/>
                </a:solidFill>
                <a:latin typeface="Cambria"/>
                <a:cs typeface="Cambria"/>
              </a:rPr>
              <a:t>The five-item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62636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7" y="1865376"/>
            <a:ext cx="310896" cy="310896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8470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465369"/>
                </a:solidFill>
                <a:latin typeface="Calibri"/>
                <a:cs typeface="Calibri"/>
              </a:rPr>
              <a:t>Is the environment complete?   pixi run check</a:t>
            </a:r>
          </a:p>
        </p:txBody>
      </p:sp>
      <p:sp>
        <p:nvSpPr>
          <p:cNvPr id="7" name="Oval 6"/>
          <p:cNvSpPr/>
          <p:nvPr/>
        </p:nvSpPr>
        <p:spPr>
          <a:xfrm>
            <a:off x="1024127" y="2432304"/>
            <a:ext cx="310896" cy="310896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14016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465369"/>
                </a:solidFill>
                <a:latin typeface="Calibri"/>
                <a:cs typeface="Calibri"/>
              </a:rPr>
              <a:t>Are you inside the SnakeBat folder?</a:t>
            </a:r>
          </a:p>
        </p:txBody>
      </p:sp>
      <p:sp>
        <p:nvSpPr>
          <p:cNvPr id="9" name="Oval 8"/>
          <p:cNvSpPr/>
          <p:nvPr/>
        </p:nvSpPr>
        <p:spPr>
          <a:xfrm>
            <a:off x="1024127" y="2999232"/>
            <a:ext cx="310896" cy="310896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80944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465369"/>
                </a:solidFill>
                <a:latin typeface="Calibri"/>
                <a:cs typeface="Calibri"/>
              </a:rPr>
              <a:t>Do all the paths in folders.csv exist, and is the drive mounted?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7" y="3566160"/>
            <a:ext cx="310896" cy="310896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54787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465369"/>
                </a:solidFill>
                <a:latin typeface="Calibri"/>
                <a:cs typeface="Calibri"/>
              </a:rPr>
              <a:t>Is folders.csv comma-separated, with no stray spaces?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7" y="4133087"/>
            <a:ext cx="310896" cy="310896"/>
          </a:xfrm>
          <a:prstGeom prst="ellipse">
            <a:avLst/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114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465369"/>
                </a:solidFill>
                <a:latin typeface="Calibri"/>
                <a:cs typeface="Calibri"/>
              </a:rPr>
              <a:t>Did you save config.yaml after editing 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572768"/>
            <a:ext cx="4236415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>
            <a:outerShdw blurRad="76200" dist="19050" dir="5400000" rotWithShape="0">
              <a:srgbClr val="9AA8B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1828800"/>
            <a:ext cx="35048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50" b="1" i="0">
                <a:solidFill>
                  <a:srgbClr val="16233A"/>
                </a:solidFill>
                <a:latin typeface="Calibri"/>
                <a:cs typeface="Calibri"/>
              </a:rPr>
              <a:t>“It says the directory is locked”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212848"/>
            <a:ext cx="35048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If a run is interrupted, Snakemake leaves a lock behind so two jobs can never write to the same place. Clear it: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017520"/>
            <a:ext cx="3504895" cy="502920"/>
          </a:xfrm>
          <a:prstGeom prst="roundRect">
            <a:avLst>
              <a:gd name="adj" fmla="val 10909"/>
            </a:avLst>
          </a:prstGeom>
          <a:solidFill>
            <a:srgbClr val="12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3017520"/>
            <a:ext cx="30476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7BE3C4"/>
                </a:solidFill>
                <a:latin typeface="Courier New"/>
                <a:cs typeface="Courier New"/>
              </a:rPr>
              <a:t>pixi run unlock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703320"/>
            <a:ext cx="35048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sz="1250" b="0" i="0">
                <a:solidFill>
                  <a:srgbClr val="465369"/>
                </a:solidFill>
                <a:latin typeface="Calibri"/>
                <a:cs typeface="Calibri"/>
              </a:rPr>
              <a:t>And to genuinely re-run: Snakemake only makes results that are missing, so it will say “nothing to be done”. Delete the results folder — everything in it rebuilds from your .WAV files.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29200"/>
            <a:ext cx="10911535" cy="86868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9525">
            <a:solidFill>
              <a:srgbClr val="DF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029200"/>
            <a:ext cx="999713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00"/>
              </a:lnSpc>
              <a:buNone/>
            </a:pPr>
            <a:r>
              <a:rPr sz="1350" b="1" i="0">
                <a:solidFill>
                  <a:srgbClr val="16233A"/>
                </a:solidFill>
                <a:latin typeface="Calibri"/>
                <a:cs typeface="Calibri"/>
              </a:rPr>
              <a:t>Still stuck?  </a:t>
            </a:r>
            <a:r>
              <a:rPr sz="1350" b="0" i="0">
                <a:solidFill>
                  <a:srgbClr val="465369"/>
                </a:solidFill>
                <a:latin typeface="Calibri"/>
                <a:cs typeface="Calibri"/>
              </a:rPr>
              <a:t>Send us results/full_pipeline_run_log.log. It holds every rule's log in order, so it is usually all we need.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spc="220">
                <a:solidFill>
                  <a:srgbClr val="E8A33D"/>
                </a:solidFill>
                <a:latin typeface="Calibri"/>
                <a:cs typeface="Calibri"/>
              </a:rPr>
              <a:t>WHERE THIS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FFFFFF"/>
                </a:solidFill>
                <a:latin typeface="Cambria"/>
                <a:cs typeface="Cambria"/>
              </a:rPr>
              <a:t>Four rules today, room for the rest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263743" cy="1024128"/>
          </a:xfrm>
          <a:prstGeom prst="roundRect">
            <a:avLst>
              <a:gd name="adj" fmla="val 7142"/>
            </a:avLst>
          </a:prstGeom>
          <a:solidFill>
            <a:srgbClr val="1D3454"/>
          </a:solidFill>
          <a:ln w="12700">
            <a:solidFill>
              <a:srgbClr val="E8A3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45322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Call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67712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AFC0CE"/>
                </a:solidFill>
                <a:latin typeface="Calibri"/>
                <a:cs typeface="Calibri"/>
              </a:rPr>
              <a:t>Pull out individual echolocation passes rather than per-second energy.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7871" y="1783080"/>
            <a:ext cx="5263743" cy="1024128"/>
          </a:xfrm>
          <a:prstGeom prst="roundRect">
            <a:avLst>
              <a:gd name="adj" fmla="val 7142"/>
            </a:avLst>
          </a:prstGeom>
          <a:solidFill>
            <a:srgbClr val="1D3454"/>
          </a:solidFill>
          <a:ln w="12700">
            <a:solidFill>
              <a:srgbClr val="E8A3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3631" y="1938528"/>
            <a:ext cx="45322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Automatic quality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3631" y="2267712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AFC0CE"/>
                </a:solidFill>
                <a:latin typeface="Calibri"/>
                <a:cs typeface="Calibri"/>
              </a:rPr>
              <a:t>Flag empty and corrupted recordings before they reach the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90088"/>
            <a:ext cx="5263743" cy="1024128"/>
          </a:xfrm>
          <a:prstGeom prst="roundRect">
            <a:avLst>
              <a:gd name="adj" fmla="val 7142"/>
            </a:avLst>
          </a:prstGeom>
          <a:solidFill>
            <a:srgbClr val="1D3454"/>
          </a:solidFill>
          <a:ln w="12700">
            <a:solidFill>
              <a:srgbClr val="E8A3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145536"/>
            <a:ext cx="45322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Weather covariates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AFC0CE"/>
                </a:solidFill>
                <a:latin typeface="Calibri"/>
                <a:cs typeface="Calibri"/>
              </a:rPr>
              <a:t>Join temperature, moon phase and sunset time onto the nightly totals.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7871" y="2990088"/>
            <a:ext cx="5263743" cy="1024128"/>
          </a:xfrm>
          <a:prstGeom prst="roundRect">
            <a:avLst>
              <a:gd name="adj" fmla="val 7142"/>
            </a:avLst>
          </a:prstGeom>
          <a:solidFill>
            <a:srgbClr val="1D3454"/>
          </a:solidFill>
          <a:ln w="12700">
            <a:solidFill>
              <a:srgbClr val="E8A3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3631" y="3145536"/>
            <a:ext cx="45322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Multi-season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3631" y="3474720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sz="1250" b="0" i="0">
                <a:solidFill>
                  <a:srgbClr val="AFC0CE"/>
                </a:solidFill>
                <a:latin typeface="Calibri"/>
                <a:cs typeface="Calibri"/>
              </a:rPr>
              <a:t>Run several field seasons through the same pipeline and compare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029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434840"/>
            <a:ext cx="999713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FFFFFF"/>
                </a:solidFill>
                <a:latin typeface="Cambria"/>
                <a:cs typeface="Cambria"/>
              </a:rPr>
              <a:t>Rules 2, 3 and 4 were dashed boxes on this slide last time. They took an afternoon.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8593A6"/>
                </a:solidFill>
                <a:latin typeface="Calibri"/>
                <a:cs typeface="Calibri"/>
              </a:rPr>
              <a:t>Mike Martinez  ·  Megan Graham  ·  Kloepper Lab, UNH          github.com/mikemartinez99/SnakeBat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F4D6C4-BE58-0D09-8F22-32E5B7FF8DF4}"/>
              </a:ext>
            </a:extLst>
          </p:cNvPr>
          <p:cNvSpPr txBox="1"/>
          <p:nvPr/>
        </p:nvSpPr>
        <p:spPr>
          <a:xfrm>
            <a:off x="1998921" y="1998921"/>
            <a:ext cx="446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QR CODES HERE (</a:t>
            </a:r>
            <a:r>
              <a:rPr lang="en-US" dirty="0" err="1"/>
              <a:t>Github</a:t>
            </a:r>
            <a:r>
              <a:rPr lang="en-US" dirty="0"/>
              <a:t> page and Wiki page)</a:t>
            </a:r>
          </a:p>
        </p:txBody>
      </p:sp>
    </p:spTree>
    <p:extLst>
      <p:ext uri="{BB962C8B-B14F-4D97-AF65-F5344CB8AC3E}">
        <p14:creationId xmlns:p14="http://schemas.microsoft.com/office/powerpoint/2010/main" val="3121907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2551</Words>
  <Application>Microsoft Macintosh PowerPoint</Application>
  <PresentationFormat>Widescreen</PresentationFormat>
  <Paragraphs>258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K2D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J. Martinez</cp:lastModifiedBy>
  <cp:revision>2</cp:revision>
  <dcterms:created xsi:type="dcterms:W3CDTF">2013-01-27T09:14:16Z</dcterms:created>
  <dcterms:modified xsi:type="dcterms:W3CDTF">2026-08-17T16:04:18Z</dcterms:modified>
  <cp:category/>
</cp:coreProperties>
</file>